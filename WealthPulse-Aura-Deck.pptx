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B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029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D8B2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AURA INTELLIGENCE PLATFORM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58368" y="155448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5508"/>
              </a:lnSpc>
              <a:buNone/>
            </a:pPr>
            <a:r>
              <a:rPr lang="en-US" sz="5400" b="1" dirty="0">
                <a:solidFill>
                  <a:srgbClr val="E9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Intelligence is the </a:t>
            </a:r>
            <a:pPr indent="0" marL="0">
              <a:lnSpc>
                <a:spcPts val="5508"/>
              </a:lnSpc>
              <a:buNone/>
            </a:pPr>
            <a:r>
              <a:rPr lang="en-US" sz="5400" b="1" dirty="0">
                <a:solidFill>
                  <a:srgbClr val="D8B2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moat.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658368" y="3383280"/>
            <a:ext cx="877824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C3CC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agentic era won't be won by the biggest model — everyone rents the same ones. It's won by whoever turns </a:t>
            </a:r>
            <a:pPr indent="0" marL="0">
              <a:lnSpc>
                <a:spcPct val="140000"/>
              </a:lnSpc>
              <a:buNone/>
            </a:pPr>
            <a:r>
              <a:rPr lang="en-US" sz="2100" b="1" dirty="0">
                <a:solidFill>
                  <a:srgbClr val="E9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context into action</a:t>
            </a:r>
            <a:pPr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C3CC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first. That speed is the moat, and moats compound.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658368" y="5989320"/>
            <a:ext cx="384048" cy="384048"/>
          </a:xfrm>
          <a:prstGeom prst="roundRect">
            <a:avLst>
              <a:gd name="adj" fmla="val 21429"/>
            </a:avLst>
          </a:prstGeom>
          <a:solidFill>
            <a:srgbClr val="D8B25A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59893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12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161288" y="5989320"/>
            <a:ext cx="7315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5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WealthPulse   ·   Live demo on SingleStore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0B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029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D8B2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THE 95% OF AI PILOTS STALL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58368" y="105156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488"/>
              </a:lnSpc>
              <a:buNone/>
            </a:pPr>
            <a:r>
              <a:rPr lang="en-US" sz="4400" b="1" dirty="0">
                <a:solidFill>
                  <a:srgbClr val="E9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Better </a:t>
            </a:r>
            <a:pPr indent="0" marL="0">
              <a:lnSpc>
                <a:spcPts val="4488"/>
              </a:lnSpc>
              <a:buNone/>
            </a:pPr>
            <a:r>
              <a:rPr lang="en-US" sz="4400" b="1" dirty="0">
                <a:solidFill>
                  <a:srgbClr val="D8B2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</a:t>
            </a:r>
            <a:pPr indent="0" marL="0">
              <a:lnSpc>
                <a:spcPts val="4488"/>
              </a:lnSpc>
              <a:buNone/>
            </a:pPr>
            <a:r>
              <a:rPr lang="en-US" sz="4400" b="1" dirty="0">
                <a:solidFill>
                  <a:srgbClr val="E9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better AI.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658368" y="2286000"/>
            <a:ext cx="5257800" cy="1691640"/>
          </a:xfrm>
          <a:prstGeom prst="roundRect">
            <a:avLst>
              <a:gd name="adj" fmla="val 6486"/>
            </a:avLst>
          </a:prstGeom>
          <a:solidFill>
            <a:srgbClr val="121A2E"/>
          </a:solidFill>
          <a:ln w="12700">
            <a:solidFill>
              <a:srgbClr val="2A335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32688" y="2487168"/>
            <a:ext cx="4709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5C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  The myth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32688" y="2944368"/>
            <a:ext cx="47091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8B95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"Better model = better AI." Teams chase the biggest model — and get a very smart, very confident wrong answer on stale data. Your agents are brilliant, and blind.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36208" y="2286000"/>
            <a:ext cx="5257800" cy="1691640"/>
          </a:xfrm>
          <a:prstGeom prst="roundRect">
            <a:avLst>
              <a:gd name="adj" fmla="val 6486"/>
            </a:avLst>
          </a:prstGeom>
          <a:solidFill>
            <a:srgbClr val="121A2E"/>
          </a:solidFill>
          <a:ln w="12700">
            <a:solidFill>
              <a:srgbClr val="2A335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10528" y="2487168"/>
            <a:ext cx="4709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FD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The reality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510528" y="2944368"/>
            <a:ext cx="47091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8B95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agent is only as good as the </a:t>
            </a:r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C3CC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truth it can see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8B95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your data, events, permissions and business logic, in the moment.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58368" y="43434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B95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REAL-TIME PATH — VALUE CAPTURED AS IT’S CREATED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58368" y="47091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B95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 → ETL → Warehouse → Dashboard</a:t>
            </a:r>
            <a:pPr indent="0" marL="0">
              <a:buNone/>
            </a:pPr>
            <a:r>
              <a:rPr lang="en-US" sz="1700" dirty="0">
                <a:solidFill>
                  <a:srgbClr val="8B95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  vs        </a:t>
            </a:r>
            <a:pPr indent="0" marL="0">
              <a:buNone/>
            </a:pPr>
            <a:r>
              <a:rPr lang="en-US" sz="1700" b="1" dirty="0">
                <a:solidFill>
                  <a:srgbClr val="E7CD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 → Live decision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58368" y="54406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3CC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second you don't give away </a:t>
            </a:r>
            <a:pPr indent="0" marL="0">
              <a:buNone/>
            </a:pPr>
            <a:r>
              <a:rPr lang="en-US" sz="2000" b="1" dirty="0">
                <a:solidFill>
                  <a:srgbClr val="E7CD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the business model.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B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029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D8B2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YOU'RE WATCHING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58368" y="105156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080"/>
              </a:lnSpc>
              <a:buNone/>
            </a:pPr>
            <a:r>
              <a:rPr lang="en-US" sz="4000" b="1" dirty="0">
                <a:solidFill>
                  <a:srgbClr val="E9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WealthPulse is </a:t>
            </a:r>
            <a:pPr indent="0" marL="0">
              <a:lnSpc>
                <a:spcPts val="4080"/>
              </a:lnSpc>
              <a:buNone/>
            </a:pPr>
            <a:r>
              <a:rPr lang="en-US" sz="4000" b="1" dirty="0">
                <a:solidFill>
                  <a:srgbClr val="D8B2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Embedded Aura</a:t>
            </a:r>
            <a:pPr indent="0" marL="0">
              <a:lnSpc>
                <a:spcPts val="4080"/>
              </a:lnSpc>
              <a:buNone/>
            </a:pPr>
            <a:r>
              <a:rPr lang="en-US" sz="4000" b="1" dirty="0">
                <a:solidFill>
                  <a:srgbClr val="E9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on live context.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58368" y="2240280"/>
            <a:ext cx="5257800" cy="1234440"/>
          </a:xfrm>
          <a:prstGeom prst="roundRect">
            <a:avLst>
              <a:gd name="adj" fmla="val 8889"/>
            </a:avLst>
          </a:prstGeom>
          <a:solidFill>
            <a:srgbClr val="121A2E"/>
          </a:solidFill>
          <a:ln w="12700">
            <a:solidFill>
              <a:srgbClr val="2A335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32688" y="2423160"/>
            <a:ext cx="4709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8B2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GOVERNED SINGLESTORE DATABASE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32688" y="2788920"/>
            <a:ext cx="4709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3CC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Transactions  ·  Analytics  ·  Search  ·  one copy, live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236208" y="2240280"/>
            <a:ext cx="5257800" cy="1234440"/>
          </a:xfrm>
          <a:prstGeom prst="roundRect">
            <a:avLst>
              <a:gd name="adj" fmla="val 8889"/>
            </a:avLst>
          </a:prstGeom>
          <a:solidFill>
            <a:srgbClr val="15161E"/>
          </a:solidFill>
          <a:ln w="12700">
            <a:solidFill>
              <a:srgbClr val="D8B2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10528" y="2423160"/>
            <a:ext cx="4709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D8B2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SINGLESTORE CONTEXT ENGINE · KNOWLEDGE FABRIC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510528" y="2788920"/>
            <a:ext cx="4709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C3CC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ontology  ·  schema crawling  ·  data sampling  ·  feedback loop  ·  model gateway (BYOK)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58368" y="3749040"/>
            <a:ext cx="10835640" cy="960120"/>
          </a:xfrm>
          <a:prstGeom prst="roundRect">
            <a:avLst>
              <a:gd name="adj" fmla="val 11429"/>
            </a:avLst>
          </a:prstGeom>
          <a:solidFill>
            <a:srgbClr val="121A2E"/>
          </a:solidFill>
          <a:ln w="12700">
            <a:solidFill>
              <a:srgbClr val="2A335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32688" y="3913632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8B2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CONTEXT ENGINE  →  THREE OFFERINGS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32688" y="4251960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7CD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Embedded Aura — in-app Q&amp;A (this demo)</a:t>
            </a:r>
            <a:pPr indent="0" marL="0">
              <a:buNone/>
            </a:pPr>
            <a:r>
              <a:rPr lang="en-US" sz="1350" dirty="0">
                <a:solidFill>
                  <a:srgbClr val="C3CC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  Aura Copilot — analysts &amp; BI        Aura Code — agents &amp; MCPs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658368" y="580644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8B95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a chatbot bolted onto a database — the </a:t>
            </a:r>
            <a:pPr indent="0" marL="0">
              <a:lnSpc>
                <a:spcPct val="130000"/>
              </a:lnSpc>
              <a:buNone/>
            </a:pPr>
            <a:r>
              <a:rPr lang="en-US" sz="1450" b="1" dirty="0">
                <a:solidFill>
                  <a:srgbClr val="E9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intelligence-first</a:t>
            </a:r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8B95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center of gravity. Enterprise-grade: </a:t>
            </a:r>
            <a:pPr indent="0" marL="0">
              <a:lnSpc>
                <a:spcPct val="130000"/>
              </a:lnSpc>
              <a:buNone/>
            </a:pPr>
            <a:r>
              <a:rPr lang="en-US" sz="1450" b="1" dirty="0">
                <a:solidFill>
                  <a:srgbClr val="C3CC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multi-tenant, robust RBAC, BYOK, observability, best-in-class accuracy.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0B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029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D8B2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MEANS FOR YOU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58368" y="105156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080"/>
              </a:lnSpc>
              <a:buNone/>
            </a:pPr>
            <a:r>
              <a:rPr lang="en-US" sz="4000" b="1" dirty="0">
                <a:solidFill>
                  <a:srgbClr val="E9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up.  </a:t>
            </a:r>
            <a:pPr indent="0" marL="0">
              <a:lnSpc>
                <a:spcPts val="4080"/>
              </a:lnSpc>
              <a:buNone/>
            </a:pPr>
            <a:r>
              <a:rPr lang="en-US" sz="4000" b="1" dirty="0">
                <a:solidFill>
                  <a:srgbClr val="D8B2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down.</a:t>
            </a:r>
            <a:pPr indent="0" marL="0">
              <a:lnSpc>
                <a:spcPts val="4080"/>
              </a:lnSpc>
              <a:buNone/>
            </a:pPr>
            <a:r>
              <a:rPr lang="en-US" sz="4000" b="1" dirty="0">
                <a:solidFill>
                  <a:srgbClr val="E9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Risk down.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58368" y="2286000"/>
            <a:ext cx="3456432" cy="2468880"/>
          </a:xfrm>
          <a:prstGeom prst="roundRect">
            <a:avLst>
              <a:gd name="adj" fmla="val 4444"/>
            </a:avLst>
          </a:prstGeom>
          <a:solidFill>
            <a:srgbClr val="121A2E"/>
          </a:solidFill>
          <a:ln w="12700">
            <a:solidFill>
              <a:srgbClr val="2A335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505456"/>
            <a:ext cx="29992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FD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up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14400" y="2999232"/>
            <a:ext cx="2999232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25000"/>
              </a:lnSpc>
              <a:buSzPct val="100000"/>
              <a:buChar char="•"/>
            </a:pPr>
            <a:r>
              <a:rPr lang="en-US" sz="1450" dirty="0">
                <a:solidFill>
                  <a:srgbClr val="C3CC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Launch AI experiences faster</a:t>
            </a:r>
            <a:endParaRPr lang="en-US" sz="1450" dirty="0"/>
          </a:p>
          <a:p>
            <a:pPr marL="203200" indent="-203200">
              <a:lnSpc>
                <a:spcPct val="125000"/>
              </a:lnSpc>
              <a:buSzPct val="100000"/>
              <a:buChar char="•"/>
            </a:pPr>
            <a:r>
              <a:rPr lang="en-US" sz="1450" dirty="0">
                <a:solidFill>
                  <a:srgbClr val="C3CC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decisions capture the moment</a:t>
            </a:r>
            <a:endParaRPr lang="en-US" sz="1450" dirty="0"/>
          </a:p>
          <a:p>
            <a:pPr marL="203200" indent="-203200">
              <a:lnSpc>
                <a:spcPct val="125000"/>
              </a:lnSpc>
              <a:buSzPct val="100000"/>
              <a:buChar char="•"/>
            </a:pPr>
            <a:r>
              <a:rPr lang="en-US" sz="1450" dirty="0">
                <a:solidFill>
                  <a:srgbClr val="C3CC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 what customers now expect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4370832" y="2286000"/>
            <a:ext cx="3456432" cy="2468880"/>
          </a:xfrm>
          <a:prstGeom prst="roundRect">
            <a:avLst>
              <a:gd name="adj" fmla="val 4444"/>
            </a:avLst>
          </a:prstGeom>
          <a:solidFill>
            <a:srgbClr val="121A2E"/>
          </a:solidFill>
          <a:ln w="12700">
            <a:solidFill>
              <a:srgbClr val="2A335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26864" y="2505456"/>
            <a:ext cx="29992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7CD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down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4626864" y="2999232"/>
            <a:ext cx="2999232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25000"/>
              </a:lnSpc>
              <a:buSzPct val="100000"/>
              <a:buChar char="•"/>
            </a:pPr>
            <a:r>
              <a:rPr lang="en-US" sz="1450" dirty="0">
                <a:solidFill>
                  <a:srgbClr val="C3CC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data copies, no ETL, no point-solutions</a:t>
            </a:r>
            <a:endParaRPr lang="en-US" sz="1450" dirty="0"/>
          </a:p>
          <a:p>
            <a:pPr marL="203200" indent="-203200">
              <a:lnSpc>
                <a:spcPct val="125000"/>
              </a:lnSpc>
              <a:buSzPct val="100000"/>
              <a:buChar char="•"/>
            </a:pPr>
            <a:r>
              <a:rPr lang="en-US" sz="1450" dirty="0">
                <a:solidFill>
                  <a:srgbClr val="C3CC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Consolidate serving infrastructure</a:t>
            </a:r>
            <a:endParaRPr lang="en-US" sz="1450" dirty="0"/>
          </a:p>
          <a:p>
            <a:pPr marL="203200" indent="-203200">
              <a:lnSpc>
                <a:spcPct val="125000"/>
              </a:lnSpc>
              <a:buSzPct val="100000"/>
              <a:buChar char="•"/>
            </a:pPr>
            <a:r>
              <a:rPr lang="en-US" sz="1450" dirty="0">
                <a:solidFill>
                  <a:srgbClr val="C3CC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Leverage existing Iceberg / lakehouse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8083296" y="2286000"/>
            <a:ext cx="3456432" cy="2468880"/>
          </a:xfrm>
          <a:prstGeom prst="roundRect">
            <a:avLst>
              <a:gd name="adj" fmla="val 4444"/>
            </a:avLst>
          </a:prstGeom>
          <a:solidFill>
            <a:srgbClr val="121A2E"/>
          </a:solidFill>
          <a:ln w="12700">
            <a:solidFill>
              <a:srgbClr val="2A335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39328" y="2505456"/>
            <a:ext cx="29992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EA8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down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8339328" y="2999232"/>
            <a:ext cx="2999232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25000"/>
              </a:lnSpc>
              <a:buSzPct val="100000"/>
              <a:buChar char="•"/>
            </a:pPr>
            <a:r>
              <a:rPr lang="en-US" sz="1450" dirty="0">
                <a:solidFill>
                  <a:srgbClr val="C3CC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— no lock-in, works with your lakehouse</a:t>
            </a:r>
            <a:endParaRPr lang="en-US" sz="1450" dirty="0"/>
          </a:p>
          <a:p>
            <a:pPr marL="203200" indent="-203200">
              <a:lnSpc>
                <a:spcPct val="125000"/>
              </a:lnSpc>
              <a:buSzPct val="100000"/>
              <a:buChar char="•"/>
            </a:pPr>
            <a:r>
              <a:rPr lang="en-US" sz="1450" dirty="0">
                <a:solidFill>
                  <a:srgbClr val="C3CC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reliability &amp; governance</a:t>
            </a:r>
            <a:endParaRPr lang="en-US" sz="1450" dirty="0"/>
          </a:p>
          <a:p>
            <a:pPr marL="203200" indent="-203200">
              <a:lnSpc>
                <a:spcPct val="125000"/>
              </a:lnSpc>
              <a:buSzPct val="100000"/>
              <a:buChar char="•"/>
            </a:pPr>
            <a:r>
              <a:rPr lang="en-US" sz="1450" dirty="0">
                <a:solidFill>
                  <a:srgbClr val="C3CC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Governed lakehouse stays source of truth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58368" y="521208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900" dirty="0">
                <a:solidFill>
                  <a:srgbClr val="C3CC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winners of the agentic era won't have the most models. They'll have the </a:t>
            </a:r>
            <a:pPr indent="0" marL="0">
              <a:lnSpc>
                <a:spcPct val="140000"/>
              </a:lnSpc>
              <a:buNone/>
            </a:pPr>
            <a:r>
              <a:rPr lang="en-US" sz="1900" b="1" dirty="0">
                <a:solidFill>
                  <a:srgbClr val="E7CD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fastest live context — a moat that compounds every day.</a:t>
            </a:r>
            <a:pPr indent="0" marL="0">
              <a:lnSpc>
                <a:spcPct val="140000"/>
              </a:lnSpc>
              <a:buNone/>
            </a:pPr>
            <a:r>
              <a:rPr lang="en-US" sz="1900" dirty="0">
                <a:solidFill>
                  <a:srgbClr val="C3CC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That's Aura. Let's build yours.</a:t>
            </a:r>
            <a:endParaRPr lang="en-US" sz="1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SingleStore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WealthPulse × Aura — Demo Deck</dc:title>
  <dc:subject>PptxGenJS Presentation</dc:subject>
  <dc:creator>SingleStore</dc:creator>
  <cp:lastModifiedBy>SingleStore</cp:lastModifiedBy>
  <cp:revision>1</cp:revision>
  <dcterms:created xsi:type="dcterms:W3CDTF">2026-07-10T14:14:34Z</dcterms:created>
  <dcterms:modified xsi:type="dcterms:W3CDTF">2026-07-10T14:14:34Z</dcterms:modified>
</cp:coreProperties>
</file>